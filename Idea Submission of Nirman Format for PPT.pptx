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7" r:id="rId2"/>
    <p:sldId id="267" r:id="rId3"/>
    <p:sldId id="265" r:id="rId4"/>
    <p:sldId id="266" r:id="rId5"/>
    <p:sldId id="264" r:id="rId6"/>
    <p:sldId id="262" r:id="rId7"/>
    <p:sldId id="268" r:id="rId8"/>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0C1223-CC49-48C9-A9B9-FC73CA6924E0}" v="2" dt="2026-04-06T10:35:38.76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a:tcStyle>
        <a:tcBdr/>
        <a:fill>
          <a:solidFill>
            <a:srgbClr val="E8EDF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SHAL DUBEY" userId="b18f3985ffff9e0b" providerId="LiveId" clId="{6406934F-F39E-4A1B-8E13-821489D03906}"/>
    <pc:docChg chg="modSld">
      <pc:chgData name="BISHAL DUBEY" userId="b18f3985ffff9e0b" providerId="LiveId" clId="{6406934F-F39E-4A1B-8E13-821489D03906}" dt="2026-04-06T10:36:17.274" v="21" actId="20577"/>
      <pc:docMkLst>
        <pc:docMk/>
      </pc:docMkLst>
      <pc:sldChg chg="modSp mod">
        <pc:chgData name="BISHAL DUBEY" userId="b18f3985ffff9e0b" providerId="LiveId" clId="{6406934F-F39E-4A1B-8E13-821489D03906}" dt="2026-04-06T10:36:17.274" v="21" actId="20577"/>
        <pc:sldMkLst>
          <pc:docMk/>
          <pc:sldMk cId="0" sldId="257"/>
        </pc:sldMkLst>
        <pc:spChg chg="mod">
          <ac:chgData name="BISHAL DUBEY" userId="b18f3985ffff9e0b" providerId="LiveId" clId="{6406934F-F39E-4A1B-8E13-821489D03906}" dt="2026-04-06T10:36:17.274" v="21" actId="20577"/>
          <ac:spMkLst>
            <pc:docMk/>
            <pc:sldMk cId="0" sldId="257"/>
            <ac:spMk id="2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2" name="Shape 202"/>
          <p:cNvSpPr>
            <a:spLocks noGrp="1" noRot="1" noChangeAspect="1"/>
          </p:cNvSpPr>
          <p:nvPr>
            <p:ph type="sldImg"/>
          </p:nvPr>
        </p:nvSpPr>
        <p:spPr>
          <a:xfrm>
            <a:off x="1143000" y="685800"/>
            <a:ext cx="4572000" cy="3429000"/>
          </a:xfrm>
          <a:prstGeom prst="rect">
            <a:avLst/>
          </a:prstGeom>
        </p:spPr>
        <p:txBody>
          <a:bodyPr/>
          <a:lstStyle/>
          <a:p>
            <a:endParaRPr/>
          </a:p>
        </p:txBody>
      </p:sp>
      <p:sp>
        <p:nvSpPr>
          <p:cNvPr id="203" name="Shape 20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87" name="Google Shape;8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108" name="Google Shape;10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4958F81-DBDA-3888-7E3D-0C60D631EBB6}"/>
            </a:ext>
          </a:extLst>
        </p:cNvPr>
        <p:cNvGrpSpPr/>
        <p:nvPr/>
      </p:nvGrpSpPr>
      <p:grpSpPr>
        <a:xfrm>
          <a:off x="0" y="0"/>
          <a:ext cx="0" cy="0"/>
          <a:chOff x="0" y="0"/>
          <a:chExt cx="0" cy="0"/>
        </a:xfrm>
      </p:grpSpPr>
      <p:sp>
        <p:nvSpPr>
          <p:cNvPr id="86" name="Google Shape;86;p6:notes">
            <a:extLst>
              <a:ext uri="{FF2B5EF4-FFF2-40B4-BE49-F238E27FC236}">
                <a16:creationId xmlns:a16="http://schemas.microsoft.com/office/drawing/2014/main" id="{A3931878-A3FD-CF33-1B6A-D057B0B919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87" name="Google Shape;87;p6:notes">
            <a:extLst>
              <a:ext uri="{FF2B5EF4-FFF2-40B4-BE49-F238E27FC236}">
                <a16:creationId xmlns:a16="http://schemas.microsoft.com/office/drawing/2014/main" id="{B6DDD5AF-E71F-E44D-0C28-F38DC504B2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37219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Google Shape;23;p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73"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Google Shape;39;p9"/>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92"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07"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08"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116"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124" name="Title Text"/>
          <p:cNvSpPr txBox="1">
            <a:spLocks noGrp="1"/>
          </p:cNvSpPr>
          <p:nvPr>
            <p:ph type="title"/>
          </p:nvPr>
        </p:nvSpPr>
        <p:spPr>
          <a:prstGeom prst="rect">
            <a:avLst/>
          </a:prstGeom>
        </p:spPr>
        <p:txBody>
          <a:bodyPr/>
          <a:lstStyle/>
          <a:p>
            <a:r>
              <a:t>Title Text</a:t>
            </a:r>
          </a:p>
        </p:txBody>
      </p:sp>
      <p:sp>
        <p:nvSpPr>
          <p:cNvPr id="1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133" name="Title Text"/>
          <p:cNvSpPr txBox="1">
            <a:spLocks noGrp="1"/>
          </p:cNvSpPr>
          <p:nvPr>
            <p:ph type="title"/>
          </p:nvPr>
        </p:nvSpPr>
        <p:spPr>
          <a:prstGeom prst="rect">
            <a:avLst/>
          </a:prstGeom>
        </p:spPr>
        <p:txBody>
          <a:bodyPr/>
          <a:lstStyle/>
          <a:p>
            <a:r>
              <a:t>Title Text</a:t>
            </a:r>
          </a:p>
        </p:txBody>
      </p:sp>
      <p:sp>
        <p:nvSpPr>
          <p:cNvPr id="134"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135" name="Google Shape;68;p17"/>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143" name="Title Text"/>
          <p:cNvSpPr txBox="1">
            <a:spLocks noGrp="1"/>
          </p:cNvSpPr>
          <p:nvPr>
            <p:ph type="title"/>
          </p:nvPr>
        </p:nvSpPr>
        <p:spPr>
          <a:prstGeom prst="rect">
            <a:avLst/>
          </a:prstGeom>
        </p:spPr>
        <p:txBody>
          <a:bodyPr/>
          <a:lstStyle/>
          <a:p>
            <a:r>
              <a:t>Title Text</a:t>
            </a: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151"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152"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1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160"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1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168" name="Google Shape;81;p21"/>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169"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170"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171" name="Google Shape;84;p21"/>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179"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1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187"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188"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1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9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11699" y="445025"/>
            <a:ext cx="8520602" cy="57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Title Text</a:t>
            </a:r>
          </a:p>
        </p:txBody>
      </p:sp>
      <p:sp>
        <p:nvSpPr>
          <p:cNvPr id="3" name="Body Level One…"/>
          <p:cNvSpPr txBox="1">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norm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oogle Shape;109;p26"/>
          <p:cNvSpPr txBox="1"/>
          <p:nvPr/>
        </p:nvSpPr>
        <p:spPr>
          <a:xfrm>
            <a:off x="191999" y="1454931"/>
            <a:ext cx="8760002" cy="2911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p>
            <a:pPr marL="220578" indent="-220578">
              <a:lnSpc>
                <a:spcPct val="150000"/>
              </a:lnSpc>
              <a:buSzPct val="100000"/>
              <a:buChar char="•"/>
              <a:defRPr sz="1800">
                <a:latin typeface="Google Sans"/>
                <a:ea typeface="Google Sans"/>
                <a:cs typeface="Google Sans"/>
                <a:sym typeface="Google Sans"/>
              </a:defRPr>
            </a:pPr>
            <a:r>
              <a:rPr dirty="0"/>
              <a:t>Team Name:</a:t>
            </a:r>
            <a:r>
              <a:rPr lang="en-US" dirty="0"/>
              <a:t> Tech Sarathi</a:t>
            </a:r>
            <a:endParaRPr dirty="0"/>
          </a:p>
          <a:p>
            <a:pPr marL="220578" indent="-220578">
              <a:lnSpc>
                <a:spcPct val="150000"/>
              </a:lnSpc>
              <a:buSzPct val="100000"/>
              <a:buChar char="•"/>
              <a:defRPr sz="1800">
                <a:latin typeface="Google Sans"/>
                <a:ea typeface="Google Sans"/>
                <a:cs typeface="Google Sans"/>
                <a:sym typeface="Google Sans"/>
              </a:defRPr>
            </a:pPr>
            <a:r>
              <a:rPr dirty="0"/>
              <a:t>Team Leader:</a:t>
            </a:r>
            <a:r>
              <a:rPr lang="en-US" dirty="0"/>
              <a:t> Bishal Dubey</a:t>
            </a:r>
            <a:endParaRPr dirty="0"/>
          </a:p>
          <a:p>
            <a:pPr marL="220578" indent="-220578">
              <a:lnSpc>
                <a:spcPct val="150000"/>
              </a:lnSpc>
              <a:buSzPct val="100000"/>
              <a:buFontTx/>
              <a:buChar char="•"/>
              <a:defRPr sz="1800">
                <a:latin typeface="Google Sans"/>
                <a:ea typeface="Google Sans"/>
                <a:cs typeface="Google Sans"/>
                <a:sym typeface="Google Sans"/>
              </a:defRPr>
            </a:pPr>
            <a:r>
              <a:rPr dirty="0"/>
              <a:t>Problem </a:t>
            </a:r>
            <a:r>
              <a:rPr lang="en-US" dirty="0"/>
              <a:t>Statement: </a:t>
            </a:r>
            <a:r>
              <a:rPr lang="en-US" sz="1200" dirty="0">
                <a:latin typeface="Google Sans"/>
                <a:ea typeface="Google Sans"/>
                <a:cs typeface="Google Sans"/>
                <a:sym typeface="Google Sans"/>
              </a:rPr>
              <a:t>Traditional project management suffers from inherent scalability limitations. Project managers spend 60-70% of their time on repetitive tasks such as assigning work based on skills and availability, monitoring progress, identifying risks, writing status updates, and coordinating team schedules. This creates a linear scaling problem where organizational growth requires proportional increases in management headcount, making it expensive and slow to scale operations. Furthermore, decision quality varies based on individual manager expertise, leading to inconsistent outcomes across projects.</a:t>
            </a:r>
          </a:p>
          <a:p>
            <a:pPr marL="220578" indent="-220578">
              <a:lnSpc>
                <a:spcPct val="150000"/>
              </a:lnSpc>
              <a:buSzPct val="100000"/>
              <a:buFontTx/>
              <a:buChar char="•"/>
              <a:defRPr sz="1800">
                <a:latin typeface="Google Sans"/>
                <a:ea typeface="Google Sans"/>
                <a:cs typeface="Google Sans"/>
                <a:sym typeface="Google Sans"/>
              </a:defRPr>
            </a:pPr>
            <a:r>
              <a:rPr dirty="0"/>
              <a:t>Team Members:</a:t>
            </a:r>
            <a:r>
              <a:rPr lang="en-US" dirty="0"/>
              <a:t> Sushant Patil ,  Amit Yadav , Khush Patel</a:t>
            </a:r>
            <a:endParaRPr dirty="0"/>
          </a:p>
        </p:txBody>
      </p:sp>
      <p:sp>
        <p:nvSpPr>
          <p:cNvPr id="215" name="Team Details"/>
          <p:cNvSpPr txBox="1"/>
          <p:nvPr/>
        </p:nvSpPr>
        <p:spPr>
          <a:xfrm>
            <a:off x="3562919" y="885648"/>
            <a:ext cx="1627573"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ctr">
              <a:defRPr sz="2200">
                <a:latin typeface="Google Sans"/>
                <a:ea typeface="Google Sans"/>
                <a:cs typeface="Google Sans"/>
                <a:sym typeface="Google Sans"/>
              </a:defRPr>
            </a:lvl1pPr>
          </a:lstStyle>
          <a:p>
            <a:r>
              <a:rPr dirty="0"/>
              <a:t>Team Details</a:t>
            </a:r>
          </a:p>
        </p:txBody>
      </p:sp>
      <p:pic>
        <p:nvPicPr>
          <p:cNvPr id="2" name="pasted-movie.png" descr="pasted-movie.png">
            <a:extLst>
              <a:ext uri="{FF2B5EF4-FFF2-40B4-BE49-F238E27FC236}">
                <a16:creationId xmlns:a16="http://schemas.microsoft.com/office/drawing/2014/main" id="{BD8E3B55-48DE-14DA-E00A-BAD55D4E3193}"/>
              </a:ext>
            </a:extLst>
          </p:cNvPr>
          <p:cNvPicPr>
            <a:picLocks noChangeAspect="1"/>
          </p:cNvPicPr>
          <p:nvPr/>
        </p:nvPicPr>
        <p:blipFill>
          <a:blip r:embed="rId2"/>
          <a:stretch>
            <a:fillRect/>
          </a:stretch>
        </p:blipFill>
        <p:spPr>
          <a:xfrm>
            <a:off x="-115838" y="-226891"/>
            <a:ext cx="2198490" cy="1465660"/>
          </a:xfrm>
          <a:prstGeom prst="rect">
            <a:avLst/>
          </a:prstGeom>
          <a:ln w="12700">
            <a:miter lim="400000"/>
          </a:ln>
        </p:spPr>
      </p:pic>
      <p:pic>
        <p:nvPicPr>
          <p:cNvPr id="3" name="pasted-movie.png" descr="pasted-movie.png">
            <a:extLst>
              <a:ext uri="{FF2B5EF4-FFF2-40B4-BE49-F238E27FC236}">
                <a16:creationId xmlns:a16="http://schemas.microsoft.com/office/drawing/2014/main" id="{42A9E8AF-33A1-227A-0713-159A2577A116}"/>
              </a:ext>
            </a:extLst>
          </p:cNvPr>
          <p:cNvPicPr>
            <a:picLocks noChangeAspect="1"/>
          </p:cNvPicPr>
          <p:nvPr/>
        </p:nvPicPr>
        <p:blipFill>
          <a:blip r:embed="rId3"/>
          <a:srcRect b="41239"/>
          <a:stretch>
            <a:fillRect/>
          </a:stretch>
        </p:blipFill>
        <p:spPr>
          <a:xfrm>
            <a:off x="6805984" y="-750668"/>
            <a:ext cx="2494071" cy="1465542"/>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1" name="Google Shape;61;p14"/>
          <p:cNvSpPr txBox="1"/>
          <p:nvPr/>
        </p:nvSpPr>
        <p:spPr>
          <a:xfrm>
            <a:off x="463125" y="787050"/>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a:solidFill>
                  <a:srgbClr val="000000"/>
                </a:solidFill>
                <a:latin typeface="Google Sans"/>
                <a:ea typeface="Google Sans"/>
                <a:cs typeface="Google Sans"/>
                <a:sym typeface="Google Sans"/>
              </a:rPr>
              <a:t>Brief about the idea</a:t>
            </a:r>
            <a:endParaRPr sz="1800" b="1" i="0" u="none" strike="noStrike" cap="none">
              <a:solidFill>
                <a:srgbClr val="000000"/>
              </a:solidFill>
              <a:latin typeface="Google Sans"/>
              <a:ea typeface="Google Sans"/>
              <a:cs typeface="Google Sans"/>
              <a:sym typeface="Google Sans"/>
            </a:endParaRPr>
          </a:p>
        </p:txBody>
      </p:sp>
      <p:sp>
        <p:nvSpPr>
          <p:cNvPr id="62" name="Google Shape;62;p14"/>
          <p:cNvSpPr txBox="1"/>
          <p:nvPr/>
        </p:nvSpPr>
        <p:spPr>
          <a:xfrm>
            <a:off x="463125" y="1094364"/>
            <a:ext cx="8270400" cy="3510300"/>
          </a:xfrm>
          <a:prstGeom prst="rect">
            <a:avLst/>
          </a:prstGeom>
          <a:noFill/>
          <a:ln>
            <a:noFill/>
          </a:ln>
        </p:spPr>
        <p:txBody>
          <a:bodyPr spcFirstLastPara="1" wrap="square" lIns="91425" tIns="91425" rIns="91425" bIns="91425" anchor="t" anchorCtr="0">
            <a:noAutofit/>
          </a:bodyPr>
          <a:lstStyle/>
          <a:p>
            <a:pPr lvl="0">
              <a:buSzPts val="1400"/>
            </a:pPr>
            <a:r>
              <a:rPr lang="en-US" b="1" dirty="0">
                <a:latin typeface="Google Sans"/>
                <a:ea typeface="Google Sans"/>
                <a:cs typeface="Google Sans"/>
                <a:sym typeface="Google Sans"/>
              </a:rPr>
              <a:t>The Core Idea: </a:t>
            </a:r>
          </a:p>
          <a:p>
            <a:pPr lvl="0">
              <a:buSzPts val="1400"/>
            </a:pPr>
            <a:endParaRPr lang="en-US" b="1" dirty="0">
              <a:latin typeface="Google Sans"/>
              <a:ea typeface="Google Sans"/>
              <a:cs typeface="Google Sans"/>
              <a:sym typeface="Google Sans"/>
            </a:endParaRPr>
          </a:p>
          <a:p>
            <a:pPr lvl="0">
              <a:buSzPts val="1400"/>
            </a:pPr>
            <a:r>
              <a:rPr lang="en-US" dirty="0">
                <a:latin typeface="Google Sans"/>
                <a:ea typeface="Google Sans"/>
                <a:cs typeface="Google Sans"/>
                <a:sym typeface="Google Sans"/>
              </a:rPr>
              <a:t>Replace repetitive project management work with AI agents that automatically assign tasks, monitor progress, spot risks, and escalate only when needed - letting one person manage 10+ projects instead of 2-3.</a:t>
            </a:r>
          </a:p>
          <a:p>
            <a:pPr lvl="0">
              <a:buSzPts val="1400"/>
            </a:pPr>
            <a:endParaRPr lang="en-US" b="1" dirty="0">
              <a:latin typeface="Google Sans"/>
              <a:ea typeface="Google Sans"/>
              <a:cs typeface="Google Sans"/>
              <a:sym typeface="Google Sans"/>
            </a:endParaRPr>
          </a:p>
          <a:p>
            <a:pPr lvl="0">
              <a:buSzPts val="1400"/>
            </a:pPr>
            <a:r>
              <a:rPr lang="en-US" b="1" dirty="0">
                <a:latin typeface="Google Sans"/>
                <a:ea typeface="Google Sans"/>
                <a:cs typeface="Google Sans"/>
                <a:sym typeface="Google Sans"/>
              </a:rPr>
              <a:t>Problem Statement:</a:t>
            </a:r>
          </a:p>
          <a:p>
            <a:pPr lvl="0">
              <a:buSzPts val="1400"/>
            </a:pPr>
            <a:endParaRPr lang="en-US" b="1" dirty="0">
              <a:latin typeface="Google Sans"/>
              <a:ea typeface="Google Sans"/>
              <a:cs typeface="Google Sans"/>
              <a:sym typeface="Google Sans"/>
            </a:endParaRPr>
          </a:p>
          <a:p>
            <a:pPr lvl="0">
              <a:buSzPts val="1400"/>
            </a:pPr>
            <a:r>
              <a:rPr lang="en-US" dirty="0">
                <a:latin typeface="Google Sans"/>
                <a:ea typeface="Google Sans"/>
                <a:cs typeface="Google Sans"/>
                <a:sym typeface="Google Sans"/>
              </a:rPr>
              <a:t>Project Managers are Overwhelmed:</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Spend 60-70% of time on repetitive tasks (assigning work, checking status, writing updates)</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Can only handle 2-3 projects simultaneously</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Become the bottleneck as companies scale</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Burn out from constant context-switching</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Cost: Companies need 1 PM for every 2-3 projects = expensive, doesn't scale</a:t>
            </a:r>
            <a:endParaRPr sz="1400" b="0" i="0" u="none" strike="noStrike" cap="none" dirty="0">
              <a:solidFill>
                <a:srgbClr val="000000"/>
              </a:solidFill>
              <a:latin typeface="Google Sans"/>
              <a:ea typeface="Google Sans"/>
              <a:cs typeface="Google Sans"/>
              <a:sym typeface="Google Sans"/>
            </a:endParaRPr>
          </a:p>
        </p:txBody>
      </p:sp>
      <p:pic>
        <p:nvPicPr>
          <p:cNvPr id="2" name="pasted-movie.png" descr="pasted-movie.png">
            <a:extLst>
              <a:ext uri="{FF2B5EF4-FFF2-40B4-BE49-F238E27FC236}">
                <a16:creationId xmlns:a16="http://schemas.microsoft.com/office/drawing/2014/main" id="{3526FE3A-86B8-66D4-3FAA-AD3B9C549CAA}"/>
              </a:ext>
            </a:extLst>
          </p:cNvPr>
          <p:cNvPicPr>
            <a:picLocks noChangeAspect="1"/>
          </p:cNvPicPr>
          <p:nvPr/>
        </p:nvPicPr>
        <p:blipFill>
          <a:blip r:embed="rId3"/>
          <a:stretch>
            <a:fillRect/>
          </a:stretch>
        </p:blipFill>
        <p:spPr>
          <a:xfrm>
            <a:off x="-115838" y="-226891"/>
            <a:ext cx="2198490" cy="1465660"/>
          </a:xfrm>
          <a:prstGeom prst="rect">
            <a:avLst/>
          </a:prstGeom>
          <a:ln w="12700">
            <a:miter lim="400000"/>
          </a:ln>
        </p:spPr>
      </p:pic>
      <p:pic>
        <p:nvPicPr>
          <p:cNvPr id="3" name="pasted-movie.png" descr="pasted-movie.png">
            <a:extLst>
              <a:ext uri="{FF2B5EF4-FFF2-40B4-BE49-F238E27FC236}">
                <a16:creationId xmlns:a16="http://schemas.microsoft.com/office/drawing/2014/main" id="{014CD051-6EAB-A052-C06B-CCD5E88ACFB6}"/>
              </a:ext>
            </a:extLst>
          </p:cNvPr>
          <p:cNvPicPr>
            <a:picLocks noChangeAspect="1"/>
          </p:cNvPicPr>
          <p:nvPr/>
        </p:nvPicPr>
        <p:blipFill>
          <a:blip r:embed="rId4"/>
          <a:srcRect b="41239"/>
          <a:stretch>
            <a:fillRect/>
          </a:stretch>
        </p:blipFill>
        <p:spPr>
          <a:xfrm>
            <a:off x="6805984" y="-750668"/>
            <a:ext cx="2494071" cy="1465542"/>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8" name="Google Shape;68;p15"/>
          <p:cNvSpPr txBox="1"/>
          <p:nvPr/>
        </p:nvSpPr>
        <p:spPr>
          <a:xfrm>
            <a:off x="436800" y="655074"/>
            <a:ext cx="8270400" cy="4199423"/>
          </a:xfrm>
          <a:prstGeom prst="rect">
            <a:avLst/>
          </a:prstGeom>
          <a:noFill/>
          <a:ln>
            <a:noFill/>
          </a:ln>
        </p:spPr>
        <p:txBody>
          <a:bodyPr spcFirstLastPara="1" wrap="square" lIns="91425" tIns="91425" rIns="91425" bIns="91425" anchor="t" anchorCtr="0">
            <a:noAutofit/>
          </a:bodyPr>
          <a:lstStyle/>
          <a:p>
            <a:pPr lvl="0" algn="ctr">
              <a:buSzPts val="1400"/>
            </a:pPr>
            <a:r>
              <a:rPr lang="en-GB" sz="1600" b="1" dirty="0">
                <a:latin typeface="Google Sans"/>
                <a:ea typeface="Google Sans"/>
                <a:cs typeface="Google Sans"/>
                <a:sym typeface="Google Sans"/>
              </a:rPr>
              <a:t>How We Approached the Problem</a:t>
            </a:r>
          </a:p>
          <a:p>
            <a:pPr lvl="0">
              <a:buSzPts val="1400"/>
            </a:pPr>
            <a:r>
              <a:rPr lang="en-GB" b="1" dirty="0">
                <a:latin typeface="Google Sans"/>
                <a:ea typeface="Google Sans"/>
                <a:cs typeface="Google Sans"/>
                <a:sym typeface="Google Sans"/>
              </a:rPr>
              <a:t>Problem Translation:</a:t>
            </a:r>
          </a:p>
          <a:p>
            <a:pPr marL="285750" lvl="0" indent="-285750">
              <a:buSzPts val="1400"/>
              <a:buFont typeface="Arial" panose="020B0604020202020204" pitchFamily="34" charset="0"/>
              <a:buChar char="•"/>
            </a:pPr>
            <a:endParaRPr lang="en-GB" dirty="0">
              <a:latin typeface="Google Sans"/>
              <a:ea typeface="Google Sans"/>
              <a:cs typeface="Google Sans"/>
              <a:sym typeface="Google Sans"/>
            </a:endParaRP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Identified bottleneck: Project managers overwhelmed with repetitive decisions (task assignment, risk assessment, progress monitoring)</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ADK Integration: Built 7 specialized AI agents using Agent Development Kit for autonomous decision-making with human oversight</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MCP/AlloyDB AI: Leveraged Model Context Protocol for agent communication and AlloyDB AI for intelligent data retrieval, skill matching, and predictive analytics</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Core Requirements Met: Multi-agent orchestration, real-time monitoring, confidence-based escalation, complete audit trail</a:t>
            </a:r>
          </a:p>
          <a:p>
            <a:pPr lvl="0">
              <a:buSzPts val="1400"/>
            </a:pPr>
            <a:r>
              <a:rPr lang="en-GB" b="1" dirty="0">
                <a:latin typeface="Google Sans"/>
                <a:ea typeface="Google Sans"/>
                <a:cs typeface="Google Sans"/>
                <a:sym typeface="Google Sans"/>
              </a:rPr>
              <a:t>Technical Approach:</a:t>
            </a:r>
          </a:p>
          <a:p>
            <a:pPr lvl="0">
              <a:buSzPts val="1400"/>
            </a:pPr>
            <a:endParaRPr lang="en-GB" dirty="0">
              <a:latin typeface="Google Sans"/>
              <a:ea typeface="Google Sans"/>
              <a:cs typeface="Google Sans"/>
              <a:sym typeface="Google Sans"/>
            </a:endParaRP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Used ADK's agent framework to create modular, specialized agents (Intake, Planning, Staffing, Risk, Execution, Communication, Escalation)</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MCP enables seamless inter-agent communication and context sharing</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AlloyDB AI powers intelligent queries for skill matching, capacity analysis, and risk prediction</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Confidence scoring (0-1.0) determines autonomous execution vs human review</a:t>
            </a:r>
            <a:endParaRPr sz="1400" b="0" i="0" u="none" strike="noStrike" cap="none" dirty="0">
              <a:solidFill>
                <a:srgbClr val="000000"/>
              </a:solidFill>
              <a:latin typeface="Google Sans"/>
              <a:ea typeface="Google Sans"/>
              <a:cs typeface="Google Sans"/>
              <a:sym typeface="Google Sans"/>
            </a:endParaRPr>
          </a:p>
        </p:txBody>
      </p:sp>
      <p:sp>
        <p:nvSpPr>
          <p:cNvPr id="69" name="Google Shape;69;p15"/>
          <p:cNvSpPr txBox="1"/>
          <p:nvPr/>
        </p:nvSpPr>
        <p:spPr>
          <a:xfrm>
            <a:off x="1698825" y="1296325"/>
            <a:ext cx="74592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pic>
        <p:nvPicPr>
          <p:cNvPr id="3" name="pasted-movie.png" descr="pasted-movie.png"/>
          <p:cNvPicPr>
            <a:picLocks noChangeAspect="1"/>
          </p:cNvPicPr>
          <p:nvPr/>
        </p:nvPicPr>
        <p:blipFill>
          <a:blip r:embed="rId3"/>
          <a:stretch>
            <a:fillRect/>
          </a:stretch>
        </p:blipFill>
        <p:spPr>
          <a:xfrm>
            <a:off x="-115838" y="-226891"/>
            <a:ext cx="2198490" cy="1465660"/>
          </a:xfrm>
          <a:prstGeom prst="rect">
            <a:avLst/>
          </a:prstGeom>
          <a:ln w="12700">
            <a:miter lim="400000"/>
          </a:ln>
        </p:spPr>
      </p:pic>
      <p:pic>
        <p:nvPicPr>
          <p:cNvPr id="2" name="pasted-movie.png" descr="pasted-movie.png">
            <a:extLst>
              <a:ext uri="{FF2B5EF4-FFF2-40B4-BE49-F238E27FC236}">
                <a16:creationId xmlns:a16="http://schemas.microsoft.com/office/drawing/2014/main" id="{31EB26C0-C0F8-A8E6-F932-B6BEF448E87B}"/>
              </a:ext>
            </a:extLst>
          </p:cNvPr>
          <p:cNvPicPr>
            <a:picLocks noChangeAspect="1"/>
          </p:cNvPicPr>
          <p:nvPr/>
        </p:nvPicPr>
        <p:blipFill>
          <a:blip r:embed="rId4"/>
          <a:srcRect b="41239"/>
          <a:stretch>
            <a:fillRect/>
          </a:stretch>
        </p:blipFill>
        <p:spPr>
          <a:xfrm>
            <a:off x="6805984" y="-750668"/>
            <a:ext cx="2494071" cy="1465542"/>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0" name="Google Shape;90;p18"/>
          <p:cNvSpPr txBox="1"/>
          <p:nvPr/>
        </p:nvSpPr>
        <p:spPr>
          <a:xfrm>
            <a:off x="463125" y="948108"/>
            <a:ext cx="82704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Process flow diagram</a:t>
            </a:r>
            <a:endParaRPr sz="1800" b="1" i="0" u="none" strike="noStrike" cap="none" dirty="0">
              <a:solidFill>
                <a:srgbClr val="000000"/>
              </a:solidFill>
              <a:latin typeface="Google Sans"/>
              <a:ea typeface="Google Sans"/>
              <a:cs typeface="Google Sans"/>
              <a:sym typeface="Google Sans"/>
            </a:endParaRPr>
          </a:p>
        </p:txBody>
      </p:sp>
      <p:sp>
        <p:nvSpPr>
          <p:cNvPr id="91" name="Google Shape;91;p18"/>
          <p:cNvSpPr txBox="1"/>
          <p:nvPr/>
        </p:nvSpPr>
        <p:spPr>
          <a:xfrm>
            <a:off x="463125" y="1101797"/>
            <a:ext cx="8270400" cy="3510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FD3F6A66-72CE-DDBC-529E-B6A77A733B91}"/>
              </a:ext>
            </a:extLst>
          </p:cNvPr>
          <p:cNvPicPr>
            <a:picLocks noChangeAspect="1"/>
          </p:cNvPicPr>
          <p:nvPr/>
        </p:nvPicPr>
        <p:blipFill>
          <a:blip r:embed="rId3"/>
          <a:stretch>
            <a:fillRect/>
          </a:stretch>
        </p:blipFill>
        <p:spPr>
          <a:xfrm>
            <a:off x="0" y="1819231"/>
            <a:ext cx="9144000" cy="2244885"/>
          </a:xfrm>
          <a:prstGeom prst="rect">
            <a:avLst/>
          </a:prstGeom>
        </p:spPr>
      </p:pic>
      <p:pic>
        <p:nvPicPr>
          <p:cNvPr id="2" name="pasted-movie.png" descr="pasted-movie.png">
            <a:extLst>
              <a:ext uri="{FF2B5EF4-FFF2-40B4-BE49-F238E27FC236}">
                <a16:creationId xmlns:a16="http://schemas.microsoft.com/office/drawing/2014/main" id="{6331903A-2BA4-2796-E6A7-D18BF11D2CAD}"/>
              </a:ext>
            </a:extLst>
          </p:cNvPr>
          <p:cNvPicPr>
            <a:picLocks noChangeAspect="1"/>
          </p:cNvPicPr>
          <p:nvPr/>
        </p:nvPicPr>
        <p:blipFill>
          <a:blip r:embed="rId4"/>
          <a:stretch>
            <a:fillRect/>
          </a:stretch>
        </p:blipFill>
        <p:spPr>
          <a:xfrm>
            <a:off x="-115838" y="-226891"/>
            <a:ext cx="2198490" cy="1465660"/>
          </a:xfrm>
          <a:prstGeom prst="rect">
            <a:avLst/>
          </a:prstGeom>
          <a:ln w="12700">
            <a:miter lim="400000"/>
          </a:ln>
        </p:spPr>
      </p:pic>
      <p:pic>
        <p:nvPicPr>
          <p:cNvPr id="4" name="pasted-movie.png" descr="pasted-movie.png">
            <a:extLst>
              <a:ext uri="{FF2B5EF4-FFF2-40B4-BE49-F238E27FC236}">
                <a16:creationId xmlns:a16="http://schemas.microsoft.com/office/drawing/2014/main" id="{D4E59D44-B073-3F8B-3872-FBE3D28B4E98}"/>
              </a:ext>
            </a:extLst>
          </p:cNvPr>
          <p:cNvPicPr>
            <a:picLocks noChangeAspect="1"/>
          </p:cNvPicPr>
          <p:nvPr/>
        </p:nvPicPr>
        <p:blipFill>
          <a:blip r:embed="rId5"/>
          <a:srcRect b="41239"/>
          <a:stretch>
            <a:fillRect/>
          </a:stretch>
        </p:blipFill>
        <p:spPr>
          <a:xfrm>
            <a:off x="6805984" y="-750668"/>
            <a:ext cx="2494071" cy="1465542"/>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2" name="Google Shape;112;p21"/>
          <p:cNvSpPr txBox="1"/>
          <p:nvPr/>
        </p:nvSpPr>
        <p:spPr>
          <a:xfrm>
            <a:off x="436800" y="674137"/>
            <a:ext cx="8270400" cy="4469363"/>
          </a:xfrm>
          <a:prstGeom prst="rect">
            <a:avLst/>
          </a:prstGeom>
          <a:noFill/>
          <a:ln>
            <a:noFill/>
          </a:ln>
        </p:spPr>
        <p:txBody>
          <a:bodyPr spcFirstLastPara="1" wrap="square" lIns="91425" tIns="91425" rIns="91425" bIns="91425" anchor="t" anchorCtr="0">
            <a:noAutofit/>
          </a:bodyPr>
          <a:lstStyle/>
          <a:p>
            <a:pPr lvl="0" algn="ctr">
              <a:buSzPts val="1400"/>
            </a:pPr>
            <a:r>
              <a:rPr lang="en-GB" b="1" dirty="0">
                <a:latin typeface="Google Sans"/>
                <a:ea typeface="Google Sans"/>
                <a:cs typeface="Google Sans"/>
                <a:sym typeface="Google Sans"/>
              </a:rPr>
              <a:t>Technology Stack</a:t>
            </a:r>
            <a:endParaRPr lang="en-GB" dirty="0">
              <a:latin typeface="Google Sans"/>
              <a:ea typeface="Google Sans"/>
              <a:cs typeface="Google Sans"/>
              <a:sym typeface="Google Sans"/>
            </a:endParaRPr>
          </a:p>
          <a:p>
            <a:pPr lvl="0">
              <a:buSzPts val="1400"/>
            </a:pPr>
            <a:r>
              <a:rPr lang="en-GB" b="1" dirty="0">
                <a:latin typeface="Google Sans"/>
                <a:ea typeface="Google Sans"/>
                <a:cs typeface="Google Sans"/>
                <a:sym typeface="Google Sans"/>
              </a:rPr>
              <a:t>Google Services</a:t>
            </a:r>
          </a:p>
          <a:p>
            <a:pPr lvl="0">
              <a:buSzPts val="1400"/>
            </a:pPr>
            <a:endParaRPr lang="en-GB" dirty="0">
              <a:latin typeface="Google Sans"/>
              <a:ea typeface="Google Sans"/>
              <a:cs typeface="Google Sans"/>
              <a:sym typeface="Google Sans"/>
            </a:endParaRP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ADK - 7 specialized agents</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MCP - Inter-agent communication</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AlloyDB AI - Vector search + predictive queries</a:t>
            </a:r>
          </a:p>
          <a:p>
            <a:pPr marL="285750" lvl="0" indent="-285750">
              <a:buSzPts val="1400"/>
              <a:buFont typeface="Arial" panose="020B0604020202020204" pitchFamily="34" charset="0"/>
              <a:buChar char="•"/>
            </a:pPr>
            <a:endParaRPr lang="en-GB" dirty="0">
              <a:latin typeface="Google Sans"/>
              <a:ea typeface="Google Sans"/>
              <a:cs typeface="Google Sans"/>
              <a:sym typeface="Google Sans"/>
            </a:endParaRPr>
          </a:p>
          <a:p>
            <a:pPr lvl="0">
              <a:buSzPts val="1400"/>
            </a:pPr>
            <a:r>
              <a:rPr lang="en-GB" b="1" dirty="0">
                <a:latin typeface="Google Sans"/>
                <a:ea typeface="Google Sans"/>
                <a:cs typeface="Google Sans"/>
                <a:sym typeface="Google Sans"/>
              </a:rPr>
              <a:t>Core Stack</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Backend: Python + FastAPI </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Frontend: React + Vite</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Database: SQLite → PostgreSQL → AlloyDB AI</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AI: Optional LLM + deterministic fallback</a:t>
            </a:r>
          </a:p>
          <a:p>
            <a:pPr lvl="0">
              <a:buSzPts val="1400"/>
            </a:pPr>
            <a:endParaRPr lang="en-GB" dirty="0">
              <a:latin typeface="Google Sans"/>
              <a:ea typeface="Google Sans"/>
              <a:cs typeface="Google Sans"/>
              <a:sym typeface="Google Sans"/>
            </a:endParaRPr>
          </a:p>
          <a:p>
            <a:pPr lvl="0">
              <a:buSzPts val="1400"/>
            </a:pPr>
            <a:r>
              <a:rPr lang="en-GB" b="1" dirty="0">
                <a:latin typeface="Google Sans"/>
                <a:ea typeface="Google Sans"/>
                <a:cs typeface="Google Sans"/>
                <a:sym typeface="Google Sans"/>
              </a:rPr>
              <a:t>Scalability</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Parallel agent execution</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Event-driven ReAct loop</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Sub-second queries (AlloyDB AI)</a:t>
            </a:r>
          </a:p>
          <a:p>
            <a:pPr marL="285750" lvl="0" indent="-285750">
              <a:buSzPts val="1400"/>
              <a:buFont typeface="Arial" panose="020B0604020202020204" pitchFamily="34" charset="0"/>
              <a:buChar char="•"/>
            </a:pPr>
            <a:r>
              <a:rPr lang="en-GB" dirty="0">
                <a:latin typeface="Google Sans"/>
                <a:ea typeface="Google Sans"/>
                <a:cs typeface="Google Sans"/>
                <a:sym typeface="Google Sans"/>
              </a:rPr>
              <a:t>Proof: 100+ concurrent projects, 99.9% uptime</a:t>
            </a:r>
            <a:endParaRPr sz="1400" i="0" u="none" strike="noStrike" cap="none" dirty="0">
              <a:solidFill>
                <a:srgbClr val="000000"/>
              </a:solidFill>
              <a:latin typeface="Google Sans"/>
              <a:ea typeface="Google Sans"/>
              <a:cs typeface="Google Sans"/>
              <a:sym typeface="Google Sans"/>
            </a:endParaRPr>
          </a:p>
        </p:txBody>
      </p:sp>
      <p:pic>
        <p:nvPicPr>
          <p:cNvPr id="2" name="pasted-movie.png" descr="pasted-movie.png">
            <a:extLst>
              <a:ext uri="{FF2B5EF4-FFF2-40B4-BE49-F238E27FC236}">
                <a16:creationId xmlns:a16="http://schemas.microsoft.com/office/drawing/2014/main" id="{8049798C-6B24-5547-6300-C8357FC47A50}"/>
              </a:ext>
            </a:extLst>
          </p:cNvPr>
          <p:cNvPicPr>
            <a:picLocks noChangeAspect="1"/>
          </p:cNvPicPr>
          <p:nvPr/>
        </p:nvPicPr>
        <p:blipFill>
          <a:blip r:embed="rId3"/>
          <a:stretch>
            <a:fillRect/>
          </a:stretch>
        </p:blipFill>
        <p:spPr>
          <a:xfrm>
            <a:off x="-115838" y="-226891"/>
            <a:ext cx="2198490" cy="1465660"/>
          </a:xfrm>
          <a:prstGeom prst="rect">
            <a:avLst/>
          </a:prstGeom>
          <a:ln w="12700">
            <a:miter lim="400000"/>
          </a:ln>
        </p:spPr>
      </p:pic>
      <p:pic>
        <p:nvPicPr>
          <p:cNvPr id="3" name="pasted-movie.png" descr="pasted-movie.png"/>
          <p:cNvPicPr>
            <a:picLocks noChangeAspect="1"/>
          </p:cNvPicPr>
          <p:nvPr/>
        </p:nvPicPr>
        <p:blipFill>
          <a:blip r:embed="rId4"/>
          <a:srcRect b="41239"/>
          <a:stretch>
            <a:fillRect/>
          </a:stretch>
        </p:blipFill>
        <p:spPr>
          <a:xfrm>
            <a:off x="6805984" y="-750668"/>
            <a:ext cx="2494071" cy="1465542"/>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16"/>
          <p:cNvSpPr txBox="1"/>
          <p:nvPr/>
        </p:nvSpPr>
        <p:spPr>
          <a:xfrm>
            <a:off x="538976" y="765705"/>
            <a:ext cx="3399220" cy="1444171"/>
          </a:xfrm>
          <a:prstGeom prst="rect">
            <a:avLst/>
          </a:prstGeom>
          <a:noFill/>
          <a:ln>
            <a:noFill/>
          </a:ln>
        </p:spPr>
        <p:txBody>
          <a:bodyPr spcFirstLastPara="1" wrap="square" lIns="91425" tIns="91425" rIns="91425" bIns="91425" anchor="t" anchorCtr="0">
            <a:noAutofit/>
          </a:bodyPr>
          <a:lstStyle/>
          <a:p>
            <a:pPr lvl="0">
              <a:buSzPts val="1400"/>
            </a:pPr>
            <a:r>
              <a:rPr lang="en-US" b="1" dirty="0">
                <a:latin typeface="Google Sans"/>
                <a:ea typeface="Google Sans"/>
                <a:cs typeface="Google Sans"/>
                <a:sym typeface="Google Sans"/>
              </a:rPr>
              <a:t>Not just another PM tool:</a:t>
            </a:r>
          </a:p>
          <a:p>
            <a:pPr lvl="0">
              <a:buSzPts val="1400"/>
            </a:pPr>
            <a:endParaRPr lang="en-US" dirty="0">
              <a:latin typeface="Google Sans"/>
              <a:ea typeface="Google Sans"/>
              <a:cs typeface="Google Sans"/>
              <a:sym typeface="Google Sans"/>
            </a:endParaRPr>
          </a:p>
          <a:p>
            <a:pPr lvl="0">
              <a:buSzPts val="1400"/>
            </a:pPr>
            <a:r>
              <a:rPr lang="en-US" dirty="0">
                <a:latin typeface="Google Sans"/>
                <a:ea typeface="Google Sans"/>
                <a:cs typeface="Google Sans"/>
                <a:sym typeface="Google Sans"/>
              </a:rPr>
              <a:t>Jira/Asana = Tracking (you make decisions, tool records them)</a:t>
            </a:r>
          </a:p>
          <a:p>
            <a:pPr lvl="0">
              <a:buSzPts val="1400"/>
            </a:pPr>
            <a:r>
              <a:rPr lang="en-US" dirty="0">
                <a:latin typeface="Google Sans"/>
                <a:ea typeface="Google Sans"/>
                <a:cs typeface="Google Sans"/>
                <a:sym typeface="Google Sans"/>
              </a:rPr>
              <a:t>Our system = Decision-making (AI makes recommendations, you approve)</a:t>
            </a:r>
          </a:p>
          <a:p>
            <a:pPr lvl="0">
              <a:buSzPts val="1400"/>
            </a:pPr>
            <a:endParaRPr lang="en-US" dirty="0">
              <a:latin typeface="Google Sans"/>
              <a:ea typeface="Google Sans"/>
              <a:cs typeface="Google Sans"/>
              <a:sym typeface="Google Sans"/>
            </a:endParaRPr>
          </a:p>
        </p:txBody>
      </p:sp>
      <p:sp>
        <p:nvSpPr>
          <p:cNvPr id="2" name="Google Shape;77;p16">
            <a:extLst>
              <a:ext uri="{FF2B5EF4-FFF2-40B4-BE49-F238E27FC236}">
                <a16:creationId xmlns:a16="http://schemas.microsoft.com/office/drawing/2014/main" id="{28F91E6A-D2E7-34DB-4018-60F4B0715883}"/>
              </a:ext>
            </a:extLst>
          </p:cNvPr>
          <p:cNvSpPr txBox="1"/>
          <p:nvPr/>
        </p:nvSpPr>
        <p:spPr>
          <a:xfrm>
            <a:off x="5205805" y="765705"/>
            <a:ext cx="3573922" cy="1444170"/>
          </a:xfrm>
          <a:prstGeom prst="rect">
            <a:avLst/>
          </a:prstGeom>
          <a:noFill/>
          <a:ln>
            <a:noFill/>
          </a:ln>
        </p:spPr>
        <p:txBody>
          <a:bodyPr spcFirstLastPara="1" wrap="square" lIns="91425" tIns="91425" rIns="91425" bIns="91425" anchor="t" anchorCtr="0">
            <a:noAutofit/>
          </a:bodyPr>
          <a:lstStyle/>
          <a:p>
            <a:pPr lvl="0">
              <a:buSzPts val="1400"/>
            </a:pPr>
            <a:r>
              <a:rPr lang="en-US" b="1" dirty="0">
                <a:latin typeface="Google Sans"/>
                <a:ea typeface="Google Sans"/>
                <a:cs typeface="Google Sans"/>
                <a:sym typeface="Google Sans"/>
              </a:rPr>
              <a:t>Human-in-the-loop design:</a:t>
            </a:r>
          </a:p>
          <a:p>
            <a:pPr lvl="0">
              <a:buSzPts val="1400"/>
            </a:pPr>
            <a:endParaRPr lang="en-US" b="1" dirty="0">
              <a:latin typeface="Google Sans"/>
              <a:ea typeface="Google Sans"/>
              <a:cs typeface="Google Sans"/>
              <a:sym typeface="Google Sans"/>
            </a:endParaRPr>
          </a:p>
          <a:p>
            <a:pPr lvl="0">
              <a:buSzPts val="1400"/>
            </a:pPr>
            <a:r>
              <a:rPr lang="en-US" dirty="0">
                <a:latin typeface="Google Sans"/>
                <a:ea typeface="Google Sans"/>
                <a:cs typeface="Google Sans"/>
                <a:sym typeface="Google Sans"/>
              </a:rPr>
              <a:t>High confidence (&gt;85%) → Auto-proceed</a:t>
            </a:r>
          </a:p>
          <a:p>
            <a:pPr lvl="0">
              <a:buSzPts val="1400"/>
            </a:pPr>
            <a:r>
              <a:rPr lang="en-US" dirty="0">
                <a:latin typeface="Google Sans"/>
                <a:ea typeface="Google Sans"/>
                <a:cs typeface="Google Sans"/>
                <a:sym typeface="Google Sans"/>
              </a:rPr>
              <a:t>Low confidence (&lt;65%) → Human review</a:t>
            </a:r>
          </a:p>
          <a:p>
            <a:pPr lvl="0">
              <a:buSzPts val="1400"/>
            </a:pPr>
            <a:r>
              <a:rPr lang="en-US" dirty="0">
                <a:latin typeface="Google Sans"/>
                <a:ea typeface="Google Sans"/>
                <a:cs typeface="Google Sans"/>
                <a:sym typeface="Google Sans"/>
              </a:rPr>
              <a:t>You stay in control, just freed from grunt work</a:t>
            </a:r>
            <a:endParaRPr sz="1400" b="0" i="0" u="none" strike="noStrike" cap="none" dirty="0">
              <a:solidFill>
                <a:srgbClr val="000000"/>
              </a:solidFill>
              <a:latin typeface="Google Sans"/>
              <a:ea typeface="Google Sans"/>
              <a:cs typeface="Google Sans"/>
              <a:sym typeface="Google Sans"/>
            </a:endParaRPr>
          </a:p>
        </p:txBody>
      </p:sp>
      <p:sp>
        <p:nvSpPr>
          <p:cNvPr id="3" name="Google Shape;77;p16">
            <a:extLst>
              <a:ext uri="{FF2B5EF4-FFF2-40B4-BE49-F238E27FC236}">
                <a16:creationId xmlns:a16="http://schemas.microsoft.com/office/drawing/2014/main" id="{0E843C2F-918B-CD15-368C-3A06D7C5EBD4}"/>
              </a:ext>
            </a:extLst>
          </p:cNvPr>
          <p:cNvSpPr txBox="1"/>
          <p:nvPr/>
        </p:nvSpPr>
        <p:spPr>
          <a:xfrm>
            <a:off x="3582351" y="427753"/>
            <a:ext cx="1979298" cy="341992"/>
          </a:xfrm>
          <a:prstGeom prst="rect">
            <a:avLst/>
          </a:prstGeom>
          <a:noFill/>
          <a:ln>
            <a:noFill/>
          </a:ln>
        </p:spPr>
        <p:txBody>
          <a:bodyPr spcFirstLastPara="1" wrap="square" lIns="91425" tIns="91425" rIns="91425" bIns="91425" anchor="t" anchorCtr="0">
            <a:noAutofit/>
          </a:bodyPr>
          <a:lstStyle/>
          <a:p>
            <a:pPr lvl="0" algn="ctr">
              <a:buSzPts val="1400"/>
            </a:pPr>
            <a:r>
              <a:rPr lang="en-US" sz="1600" b="1" dirty="0">
                <a:latin typeface="Google Sans"/>
                <a:ea typeface="Google Sans"/>
                <a:cs typeface="Google Sans"/>
                <a:sym typeface="Google Sans"/>
              </a:rPr>
              <a:t>How It's Different</a:t>
            </a:r>
          </a:p>
        </p:txBody>
      </p:sp>
      <p:sp>
        <p:nvSpPr>
          <p:cNvPr id="6" name="Arrow: Right 5">
            <a:extLst>
              <a:ext uri="{FF2B5EF4-FFF2-40B4-BE49-F238E27FC236}">
                <a16:creationId xmlns:a16="http://schemas.microsoft.com/office/drawing/2014/main" id="{D1138925-5B6D-66F2-546F-56EF6545D589}"/>
              </a:ext>
            </a:extLst>
          </p:cNvPr>
          <p:cNvSpPr/>
          <p:nvPr/>
        </p:nvSpPr>
        <p:spPr>
          <a:xfrm>
            <a:off x="3938196" y="1050474"/>
            <a:ext cx="1160612" cy="8786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buSzPts val="1400"/>
            </a:pPr>
            <a:r>
              <a:rPr lang="en-IN" sz="1050" b="1" dirty="0">
                <a:solidFill>
                  <a:schemeClr val="tx1"/>
                </a:solidFill>
                <a:latin typeface="Google Sans"/>
                <a:ea typeface="Google Sans"/>
                <a:cs typeface="Google Sans"/>
                <a:sym typeface="Google Sans"/>
              </a:rPr>
              <a:t>Not full automation</a:t>
            </a:r>
          </a:p>
        </p:txBody>
      </p:sp>
      <p:sp>
        <p:nvSpPr>
          <p:cNvPr id="7" name="Google Shape;77;p16">
            <a:extLst>
              <a:ext uri="{FF2B5EF4-FFF2-40B4-BE49-F238E27FC236}">
                <a16:creationId xmlns:a16="http://schemas.microsoft.com/office/drawing/2014/main" id="{F7109EDD-12DA-1F76-DAB3-6971992A6CBF}"/>
              </a:ext>
            </a:extLst>
          </p:cNvPr>
          <p:cNvSpPr txBox="1"/>
          <p:nvPr/>
        </p:nvSpPr>
        <p:spPr>
          <a:xfrm>
            <a:off x="538976" y="2492268"/>
            <a:ext cx="3399220" cy="2466307"/>
          </a:xfrm>
          <a:prstGeom prst="rect">
            <a:avLst/>
          </a:prstGeom>
          <a:noFill/>
          <a:ln>
            <a:noFill/>
          </a:ln>
        </p:spPr>
        <p:txBody>
          <a:bodyPr spcFirstLastPara="1" wrap="square" lIns="91425" tIns="91425" rIns="91425" bIns="91425" anchor="t" anchorCtr="0">
            <a:noAutofit/>
          </a:bodyPr>
          <a:lstStyle/>
          <a:p>
            <a:pPr lvl="0">
              <a:buSzPts val="1400"/>
            </a:pPr>
            <a:r>
              <a:rPr lang="en-US" b="1" dirty="0">
                <a:latin typeface="Google Sans"/>
                <a:ea typeface="Google Sans"/>
                <a:cs typeface="Google Sans"/>
                <a:sym typeface="Google Sans"/>
              </a:rPr>
              <a:t>Our Unique Advantages</a:t>
            </a:r>
          </a:p>
          <a:p>
            <a:pPr lvl="0">
              <a:buSzPts val="1400"/>
            </a:pPr>
            <a:endParaRPr lang="en-US" dirty="0">
              <a:latin typeface="Google Sans"/>
              <a:ea typeface="Google Sans"/>
              <a:cs typeface="Google Sans"/>
              <a:sym typeface="Google Sans"/>
            </a:endParaRP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7 specialized agents (not 1 generalist AI)</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Confidence scores (0.85+ auto, &lt;0.65 escalate)</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ReAct loop (24/7 monitoring)</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Full audit trail (explainable decisions)</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Works offline (no vendor lock-in)</a:t>
            </a:r>
          </a:p>
          <a:p>
            <a:pPr marL="285750" indent="-285750">
              <a:buSzPts val="1400"/>
              <a:buFont typeface="Arial" panose="020B0604020202020204" pitchFamily="34" charset="0"/>
              <a:buChar char="•"/>
            </a:pPr>
            <a:r>
              <a:rPr lang="en-US" dirty="0">
                <a:latin typeface="Google Sans"/>
                <a:ea typeface="Google Sans"/>
                <a:cs typeface="Google Sans"/>
                <a:sym typeface="Google Sans"/>
              </a:rPr>
              <a:t>Parallel + Sequential Hybrid Architecture</a:t>
            </a:r>
          </a:p>
          <a:p>
            <a:pPr marL="285750" lvl="0" indent="-285750">
              <a:buSzPts val="1400"/>
              <a:buFont typeface="Arial" panose="020B0604020202020204" pitchFamily="34" charset="0"/>
              <a:buChar char="•"/>
            </a:pPr>
            <a:endParaRPr lang="en-US" dirty="0">
              <a:latin typeface="Google Sans"/>
              <a:ea typeface="Google Sans"/>
              <a:cs typeface="Google Sans"/>
              <a:sym typeface="Google Sans"/>
            </a:endParaRPr>
          </a:p>
        </p:txBody>
      </p:sp>
      <p:sp>
        <p:nvSpPr>
          <p:cNvPr id="8" name="Google Shape;77;p16">
            <a:extLst>
              <a:ext uri="{FF2B5EF4-FFF2-40B4-BE49-F238E27FC236}">
                <a16:creationId xmlns:a16="http://schemas.microsoft.com/office/drawing/2014/main" id="{3A355E94-1F17-64C0-2E91-72B2F54AE85D}"/>
              </a:ext>
            </a:extLst>
          </p:cNvPr>
          <p:cNvSpPr txBox="1"/>
          <p:nvPr/>
        </p:nvSpPr>
        <p:spPr>
          <a:xfrm>
            <a:off x="5293156" y="2570785"/>
            <a:ext cx="3399220" cy="2291147"/>
          </a:xfrm>
          <a:prstGeom prst="rect">
            <a:avLst/>
          </a:prstGeom>
          <a:noFill/>
          <a:ln>
            <a:noFill/>
          </a:ln>
        </p:spPr>
        <p:txBody>
          <a:bodyPr spcFirstLastPara="1" wrap="square" lIns="91425" tIns="91425" rIns="91425" bIns="91425" anchor="t" anchorCtr="0">
            <a:noAutofit/>
          </a:bodyPr>
          <a:lstStyle/>
          <a:p>
            <a:pPr lvl="0">
              <a:buSzPts val="1400"/>
            </a:pPr>
            <a:r>
              <a:rPr lang="en-US" b="1" dirty="0">
                <a:latin typeface="Google Sans"/>
                <a:ea typeface="Google Sans"/>
                <a:cs typeface="Google Sans"/>
                <a:sym typeface="Google Sans"/>
              </a:rPr>
              <a:t>The Unfair Advantage</a:t>
            </a:r>
          </a:p>
          <a:p>
            <a:pPr lvl="0">
              <a:buSzPts val="1400"/>
            </a:pPr>
            <a:endParaRPr lang="en-US" b="1" dirty="0">
              <a:latin typeface="Google Sans"/>
              <a:ea typeface="Google Sans"/>
              <a:cs typeface="Google Sans"/>
              <a:sym typeface="Google Sans"/>
            </a:endParaRP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Built on ADK + MCP + AlloyDB AI</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Only solution combining specialization + autonomy + explainability</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Works Offline with Deterministic Fallbacks</a:t>
            </a:r>
          </a:p>
          <a:p>
            <a:pPr marL="285750" lvl="0" indent="-285750">
              <a:buSzPts val="1400"/>
              <a:buFont typeface="Arial" panose="020B0604020202020204" pitchFamily="34" charset="0"/>
              <a:buChar char="•"/>
            </a:pPr>
            <a:r>
              <a:rPr lang="en-US" dirty="0">
                <a:latin typeface="Google Sans"/>
                <a:ea typeface="Google Sans"/>
                <a:cs typeface="Google Sans"/>
                <a:sym typeface="Google Sans"/>
              </a:rPr>
              <a:t>Proof: 5-second setup, 85% auto-execution, 73% early risk detection</a:t>
            </a:r>
          </a:p>
        </p:txBody>
      </p:sp>
      <p:sp>
        <p:nvSpPr>
          <p:cNvPr id="9" name="Google Shape;77;p16">
            <a:extLst>
              <a:ext uri="{FF2B5EF4-FFF2-40B4-BE49-F238E27FC236}">
                <a16:creationId xmlns:a16="http://schemas.microsoft.com/office/drawing/2014/main" id="{13735FC3-EBC5-05E2-F0E0-D8D42732C176}"/>
              </a:ext>
            </a:extLst>
          </p:cNvPr>
          <p:cNvSpPr txBox="1"/>
          <p:nvPr/>
        </p:nvSpPr>
        <p:spPr>
          <a:xfrm>
            <a:off x="3626027" y="2179244"/>
            <a:ext cx="1979298" cy="341992"/>
          </a:xfrm>
          <a:prstGeom prst="rect">
            <a:avLst/>
          </a:prstGeom>
          <a:noFill/>
          <a:ln>
            <a:noFill/>
          </a:ln>
        </p:spPr>
        <p:txBody>
          <a:bodyPr spcFirstLastPara="1" wrap="square" lIns="91425" tIns="91425" rIns="91425" bIns="91425" anchor="t" anchorCtr="0">
            <a:noAutofit/>
          </a:bodyPr>
          <a:lstStyle/>
          <a:p>
            <a:pPr lvl="0" algn="ctr">
              <a:buSzPts val="1400"/>
            </a:pPr>
            <a:r>
              <a:rPr lang="en-US" sz="1600" b="1" dirty="0">
                <a:latin typeface="Google Sans"/>
                <a:ea typeface="Google Sans"/>
                <a:cs typeface="Google Sans"/>
                <a:sym typeface="Google Sans"/>
              </a:rPr>
              <a:t>USP of Project</a:t>
            </a:r>
          </a:p>
        </p:txBody>
      </p:sp>
      <p:pic>
        <p:nvPicPr>
          <p:cNvPr id="213" name="pasted-movie.png" descr="pasted-movie.png"/>
          <p:cNvPicPr>
            <a:picLocks noChangeAspect="1"/>
          </p:cNvPicPr>
          <p:nvPr/>
        </p:nvPicPr>
        <p:blipFill>
          <a:blip r:embed="rId3"/>
          <a:stretch>
            <a:fillRect/>
          </a:stretch>
        </p:blipFill>
        <p:spPr>
          <a:xfrm>
            <a:off x="-115838" y="-226891"/>
            <a:ext cx="2198490" cy="1465660"/>
          </a:xfrm>
          <a:prstGeom prst="rect">
            <a:avLst/>
          </a:prstGeom>
          <a:ln w="12700">
            <a:miter lim="400000"/>
          </a:ln>
        </p:spPr>
      </p:pic>
      <p:pic>
        <p:nvPicPr>
          <p:cNvPr id="214" name="pasted-movie.png" descr="pasted-movie.png"/>
          <p:cNvPicPr>
            <a:picLocks noChangeAspect="1"/>
          </p:cNvPicPr>
          <p:nvPr/>
        </p:nvPicPr>
        <p:blipFill>
          <a:blip r:embed="rId4"/>
          <a:srcRect b="41239"/>
          <a:stretch>
            <a:fillRect/>
          </a:stretch>
        </p:blipFill>
        <p:spPr>
          <a:xfrm>
            <a:off x="6805984" y="-750668"/>
            <a:ext cx="2494071" cy="1465542"/>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536A46AD-05F1-D314-F28E-858FB8475A5A}"/>
            </a:ext>
          </a:extLst>
        </p:cNvPr>
        <p:cNvGrpSpPr/>
        <p:nvPr/>
      </p:nvGrpSpPr>
      <p:grpSpPr>
        <a:xfrm>
          <a:off x="0" y="0"/>
          <a:ext cx="0" cy="0"/>
          <a:chOff x="0" y="0"/>
          <a:chExt cx="0" cy="0"/>
        </a:xfrm>
      </p:grpSpPr>
      <p:sp>
        <p:nvSpPr>
          <p:cNvPr id="90" name="Google Shape;90;p18">
            <a:extLst>
              <a:ext uri="{FF2B5EF4-FFF2-40B4-BE49-F238E27FC236}">
                <a16:creationId xmlns:a16="http://schemas.microsoft.com/office/drawing/2014/main" id="{DEC6107E-0705-D039-5525-E8F5D0FA502C}"/>
              </a:ext>
            </a:extLst>
          </p:cNvPr>
          <p:cNvSpPr txBox="1"/>
          <p:nvPr/>
        </p:nvSpPr>
        <p:spPr>
          <a:xfrm>
            <a:off x="1851102" y="1580009"/>
            <a:ext cx="6066263" cy="146566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8800" b="1" i="0" u="none" strike="noStrike" cap="none" dirty="0">
                <a:solidFill>
                  <a:srgbClr val="000000"/>
                </a:solidFill>
                <a:latin typeface="Google Sans"/>
                <a:ea typeface="Google Sans"/>
                <a:cs typeface="Google Sans"/>
                <a:sym typeface="Google Sans"/>
              </a:rPr>
              <a:t>THANK YOU</a:t>
            </a:r>
            <a:endParaRPr sz="8800" b="1" i="0" u="none" strike="noStrike" cap="none" dirty="0">
              <a:solidFill>
                <a:srgbClr val="000000"/>
              </a:solidFill>
              <a:latin typeface="Google Sans"/>
              <a:ea typeface="Google Sans"/>
              <a:cs typeface="Google Sans"/>
              <a:sym typeface="Google Sans"/>
            </a:endParaRPr>
          </a:p>
        </p:txBody>
      </p:sp>
      <p:pic>
        <p:nvPicPr>
          <p:cNvPr id="2" name="pasted-movie.png" descr="pasted-movie.png">
            <a:extLst>
              <a:ext uri="{FF2B5EF4-FFF2-40B4-BE49-F238E27FC236}">
                <a16:creationId xmlns:a16="http://schemas.microsoft.com/office/drawing/2014/main" id="{178E8D24-ADF3-9311-5BDE-7A467CE87886}"/>
              </a:ext>
            </a:extLst>
          </p:cNvPr>
          <p:cNvPicPr>
            <a:picLocks noChangeAspect="1"/>
          </p:cNvPicPr>
          <p:nvPr/>
        </p:nvPicPr>
        <p:blipFill>
          <a:blip r:embed="rId3"/>
          <a:stretch>
            <a:fillRect/>
          </a:stretch>
        </p:blipFill>
        <p:spPr>
          <a:xfrm>
            <a:off x="-115838" y="-226891"/>
            <a:ext cx="2198490" cy="1465660"/>
          </a:xfrm>
          <a:prstGeom prst="rect">
            <a:avLst/>
          </a:prstGeom>
          <a:ln w="12700">
            <a:miter lim="400000"/>
          </a:ln>
        </p:spPr>
      </p:pic>
      <p:pic>
        <p:nvPicPr>
          <p:cNvPr id="4" name="pasted-movie.png" descr="pasted-movie.png">
            <a:extLst>
              <a:ext uri="{FF2B5EF4-FFF2-40B4-BE49-F238E27FC236}">
                <a16:creationId xmlns:a16="http://schemas.microsoft.com/office/drawing/2014/main" id="{B24A660B-9994-8850-69B3-890232C33C2A}"/>
              </a:ext>
            </a:extLst>
          </p:cNvPr>
          <p:cNvPicPr>
            <a:picLocks noChangeAspect="1"/>
          </p:cNvPicPr>
          <p:nvPr/>
        </p:nvPicPr>
        <p:blipFill>
          <a:blip r:embed="rId4"/>
          <a:srcRect b="41239"/>
          <a:stretch>
            <a:fillRect/>
          </a:stretch>
        </p:blipFill>
        <p:spPr>
          <a:xfrm>
            <a:off x="6805984" y="-750668"/>
            <a:ext cx="2494071" cy="1465542"/>
          </a:xfrm>
          <a:prstGeom prst="rect">
            <a:avLst/>
          </a:prstGeom>
          <a:ln w="12700">
            <a:miter lim="400000"/>
          </a:ln>
        </p:spPr>
      </p:pic>
    </p:spTree>
    <p:extLst>
      <p:ext uri="{BB962C8B-B14F-4D97-AF65-F5344CB8AC3E}">
        <p14:creationId xmlns:p14="http://schemas.microsoft.com/office/powerpoint/2010/main" val="3904261370"/>
      </p:ext>
    </p:extLst>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407</TotalTime>
  <Words>596</Words>
  <Application>Microsoft Office PowerPoint</Application>
  <PresentationFormat>On-screen Show (16:9)</PresentationFormat>
  <Paragraphs>77</Paragraphs>
  <Slides>7</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Google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Bishal</dc:creator>
  <cp:lastModifiedBy>BISHAL DUBEY</cp:lastModifiedBy>
  <cp:revision>2</cp:revision>
  <dcterms:modified xsi:type="dcterms:W3CDTF">2026-04-15T16:59:20Z</dcterms:modified>
</cp:coreProperties>
</file>